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A020"/>
                </a:solidFill>
                <a:latin typeface="Segoe UI"/>
              </a:defRPr>
            </a:pPr>
            <a:r>
              <a:t>INVESTOR PRE-SEED PITCH DECK • PROPELLER VC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BLOCK-O</a:t>
            </a:r>
          </a:p>
          <a:p>
            <a:pPr>
              <a:spcBef>
                <a:spcPts val="800"/>
              </a:spcBef>
              <a:defRPr sz="2600" b="1">
                <a:solidFill>
                  <a:srgbClr val="E8A020"/>
                </a:solidFill>
                <a:latin typeface="Segoe UI"/>
              </a:defRPr>
            </a:pPr>
            <a:r>
              <a:t>The Construction Procurement Operating Layer for MENA</a:t>
            </a:r>
          </a:p>
          <a:p>
            <a:pPr>
              <a:spcBef>
                <a:spcPts val="12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Connecting engineering takeoff, live multi-supplier price comparison, and jobsite logistics into one unified digital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3383280" cy="1645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STAGE</a:t>
            </a:r>
          </a:p>
          <a:p>
            <a:pPr>
              <a:spcBef>
                <a:spcPts val="400"/>
              </a:spcBef>
              <a:defRPr sz="1500" b="1">
                <a:solidFill>
                  <a:srgbClr val="10B981"/>
                </a:solidFill>
                <a:latin typeface="Segoe UI"/>
              </a:defRPr>
            </a:pPr>
            <a:r>
              <a:t>Early Commercial Validation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Live in production with organic inbound traction &amp; sales.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931920"/>
            <a:ext cx="3383280" cy="1645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TARGET ROUND</a:t>
            </a:r>
          </a:p>
          <a:p>
            <a:pPr>
              <a:spcBef>
                <a:spcPts val="400"/>
              </a:spcBef>
              <a:defRPr sz="1800" b="1">
                <a:solidFill>
                  <a:srgbClr val="E8A020"/>
                </a:solidFill>
                <a:latin typeface="Segoe UI"/>
              </a:defRPr>
            </a:pPr>
            <a:r>
              <a:t>$350,000 SAFE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$3.5M Valuation Cap • 18-month runway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931920"/>
            <a:ext cx="3383280" cy="1645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FOUNDER-MARKET FIT</a:t>
            </a:r>
          </a:p>
          <a:p>
            <a:pPr>
              <a:spcBef>
                <a:spcPts val="400"/>
              </a:spcBef>
              <a:defRPr sz="1500" b="1">
                <a:solidFill>
                  <a:srgbClr val="06B6D4"/>
                </a:solidFill>
                <a:latin typeface="Segoe UI"/>
              </a:defRPr>
            </a:pPr>
            <a:r>
              <a:t>Senior Architect + Full-Stack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15+ yrs Civil/Arch expertise + Senior .NET/Three.js Dev.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Amman, Jordan • Confidential • Block-O 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A020"/>
                </a:solidFill>
                <a:latin typeface="Segoe UI"/>
              </a:defRPr>
            </a:pPr>
            <a:r>
              <a:t>THE MARKET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Construction Procurement Is Still Fragmented &amp;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02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Segoe UI"/>
              </a:defRPr>
            </a:pPr>
            <a:r>
              <a:t>Contractors, developers, and homeowners across Jordan and the region manage high-value material orders via WhatsApp, paper quotes, and unverified phone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3383280" cy="34747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43F5E"/>
                </a:solidFill>
                <a:latin typeface="Segoe UI"/>
              </a:defRPr>
            </a:pPr>
            <a:r>
              <a:t>1. Complex BOQ Calculations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Manual takeoff of stone, blocks, ready-mix concrete, and JS 29 rebar.</a:t>
            </a:r>
            <a:br/>
            <a:r>
              <a:t>• 15% - 20% typical material wastage or site shortages due to manual errors.</a:t>
            </a:r>
            <a:br/>
            <a:r>
              <a:t>• No instant link between technical blueprints and live market pricing.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383280" cy="34747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E8A020"/>
                </a:solidFill>
                <a:latin typeface="Segoe UI"/>
              </a:defRPr>
            </a:pPr>
            <a:r>
              <a:t>2. Opaque, Scattered Pricing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No centralized digital price discovery.</a:t>
            </a:r>
            <a:br/>
            <a:r>
              <a:t>• Buyers spend 2 to 4 days calling 5+ regional yards to compare basic commodity items.</a:t>
            </a:r>
            <a:br/>
            <a:r>
              <a:t>• Delivery and offloading fees are completely hidden until final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383280" cy="34747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3. Unreliable Site Logistics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Independent truck drivers lack automated tracking and scheduling.</a:t>
            </a:r>
            <a:br/>
            <a:r>
              <a:t>• Unpredictable delivery windows stall expensive on-site labor and machinery.</a:t>
            </a:r>
            <a:br/>
            <a:r>
              <a:t>• No unified proof-of-delivery or verified digital billing.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728655" cy="64008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CBD5E1"/>
                </a:solidFill>
                <a:latin typeface="Segoe UI"/>
              </a:defRPr>
            </a:pPr>
            <a:r>
              <a:t>Root Cause: Absence of an integrated vertical software layer bridging technical engineering takeoff with supplier commerce.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A020"/>
                </a:solidFill>
                <a:latin typeface="Segoe UI"/>
              </a:defRPr>
            </a:pPr>
            <a:r>
              <a:t>THE BLOCK-O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One Unified Workflow: From Estimate to Jobsite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03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E8A020"/>
                </a:solidFill>
                <a:latin typeface="Segoe UI"/>
              </a:defRPr>
            </a:pPr>
            <a:r>
              <a:t>STEP 01: ESTIMATE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Engineering BOQ Calculators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Native Jordanian structural standards (JS 29).</a:t>
            </a:r>
            <a:br/>
            <a:r>
              <a:t>• Stone facades, rib slabs, 4-piece hollow blocks, and rebar tonnage.</a:t>
            </a:r>
            <a:br/>
            <a:r>
              <a:t>• 3D WebGL structural visualization gives visual confidence to buyers.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STEP 02: COMPARE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Live Multi-Supplier Catalog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1,000+ catalog items with live merchant prices.</a:t>
            </a:r>
            <a:br/>
            <a:r>
              <a:t>• 1-Click conversion from BOQ calculation to an orderable shopping basket.</a:t>
            </a:r>
            <a:br/>
            <a:r>
              <a:t>• Instant total basket comparison across verified local suppliers.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STEP 03: DELIVER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Carrier Logistics &amp; Tracking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Integrated fleet dispatch API (LogesTechs / GLC).</a:t>
            </a:r>
            <a:br/>
            <a:r>
              <a:t>• Dynamic delivery pricing matrix across all 12 Jordan governorates.</a:t>
            </a:r>
            <a:br/>
            <a:r>
              <a:t>• Real-time delivery status tracking from supplier yard to jobsite drop-off.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60720"/>
            <a:ext cx="10728655" cy="64008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E8A020"/>
                </a:solidFill>
                <a:latin typeface="Segoe UI"/>
              </a:defRPr>
            </a:pPr>
            <a:r>
              <a:t>The Strategic Moat: By embedding engineering logic in the calculation phase, Block-O captures buyer intent BEFORE procurement decisions are made.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A020"/>
                </a:solidFill>
                <a:latin typeface="Segoe UI"/>
              </a:defRPr>
            </a:pPr>
            <a:r>
              <a:t>OPERATIONAL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 Live Product, Not a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04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237744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BOQ Calculators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Stone facades, hollow blocks, rebar tonnage, concrete slabs, mortar ratios.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● Live in Production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14600" cy="237744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3D WebGL Engine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Interactive 3D building visualizers with architectural shaders and rebar cages.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● Integrated Three.js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14600" cy="237744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Catalog Engine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Multi-vendor catalog with dynamic variants, stock sync, and localized JOD pricing.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● 1,000+ Items Active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45920"/>
            <a:ext cx="2514600" cy="237744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Carrier Logistics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Carrier API integration (LogesTechs / GLC), auto dispatch, and 12-governorate matrix.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● Dispatch 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3383280" cy="192024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Architecture Stack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.NET 9 + PostgreSQL + Redis + Tailwind</a:t>
            </a:r>
            <a:br/>
            <a:r>
              <a:t>Sub-100ms response times, enterprise multi-tenant database design.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297680"/>
            <a:ext cx="3383280" cy="192024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Programmatic SEO Engine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1,270+ Indexed Landing Pages</a:t>
            </a:r>
            <a:br/>
            <a:r>
              <a:t>Automated sitemaps capturing high-intent construction search traffic at $0 CAC.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297680"/>
            <a:ext cx="3383280" cy="192024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Merchant Center Sync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Active Google Shopping Feeds</a:t>
            </a:r>
            <a:br/>
            <a:r>
              <a:t>Direct product indexing driving contractor discovery to exact localized materials.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A020"/>
                </a:solidFill>
                <a:latin typeface="Segoe UI"/>
              </a:defRPr>
            </a:pPr>
            <a:r>
              <a:t>TRACTION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Early Commercial Validation (Verified Production Data)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05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182880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FIRST INVOICE</a:t>
            </a:r>
          </a:p>
          <a:p>
            <a:pPr>
              <a:spcBef>
                <a:spcPts val="200"/>
              </a:spcBef>
              <a:defRPr sz="2400" b="1">
                <a:solidFill>
                  <a:srgbClr val="E8A020"/>
                </a:solidFill>
                <a:latin typeface="Segoe UI"/>
              </a:defRPr>
            </a:pPr>
            <a:r>
              <a:t>730 JOD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Live order fulfilled &amp; paid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14600" cy="182880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ORGANIC CLICKS</a:t>
            </a:r>
          </a:p>
          <a:p>
            <a:pPr>
              <a:spcBef>
                <a:spcPts val="2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166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3.78K Search Impressions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14600" cy="182880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SEARCH CTR</a:t>
            </a:r>
          </a:p>
          <a:p>
            <a:pPr>
              <a:spcBef>
                <a:spcPts val="200"/>
              </a:spcBef>
              <a:defRPr sz="2400" b="1">
                <a:solidFill>
                  <a:srgbClr val="06B6D4"/>
                </a:solidFill>
                <a:latin typeface="Segoe UI"/>
              </a:defRPr>
            </a:pPr>
            <a:r>
              <a:t>4.4%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Avg Google Rank: 8.5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45920"/>
            <a:ext cx="2514600" cy="182880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MERCHANT CLICKS</a:t>
            </a:r>
          </a:p>
          <a:p>
            <a:pPr>
              <a:spcBef>
                <a:spcPts val="200"/>
              </a:spcBef>
              <a:defRPr sz="2400" b="1">
                <a:solidFill>
                  <a:srgbClr val="10B981"/>
                </a:solidFill>
                <a:latin typeface="Segoe UI"/>
              </a:defRPr>
            </a:pPr>
            <a:r>
              <a:t>97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Direct commercial intent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2514600" cy="182880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CATALOG PRODUCTS</a:t>
            </a:r>
          </a:p>
          <a:p>
            <a:pPr>
              <a:spcBef>
                <a:spcPts val="2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1,043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~1,030 approved products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3657600"/>
            <a:ext cx="2514600" cy="182880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SITEMAP PAGES</a:t>
            </a:r>
          </a:p>
          <a:p>
            <a:pPr>
              <a:spcBef>
                <a:spcPts val="2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~1,270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Programmatic SEO landing pages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657600"/>
            <a:ext cx="2514600" cy="182880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CALCULATOR GROWTH</a:t>
            </a:r>
          </a:p>
          <a:p>
            <a:pPr>
              <a:spcBef>
                <a:spcPts val="200"/>
              </a:spcBef>
              <a:defRPr sz="2400" b="1">
                <a:solidFill>
                  <a:srgbClr val="10B981"/>
                </a:solidFill>
                <a:latin typeface="Segoe UI"/>
              </a:defRPr>
            </a:pPr>
            <a:r>
              <a:t>+268%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MoM search impression growth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3657600"/>
            <a:ext cx="2514600" cy="182880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BLENDED CAC</a:t>
            </a:r>
          </a:p>
          <a:p>
            <a:pPr>
              <a:spcBef>
                <a:spcPts val="200"/>
              </a:spcBef>
              <a:defRPr sz="2400" b="1">
                <a:solidFill>
                  <a:srgbClr val="E8A020"/>
                </a:solidFill>
                <a:latin typeface="Segoe UI"/>
              </a:defRPr>
            </a:pPr>
            <a:r>
              <a:t>$0.00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100% organic search driven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10728655" cy="64008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Validation Signal: Strong organic CTR (4.4%) proves active market demand from contractors searching for material pricing and quantities online.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A020"/>
                </a:solidFill>
                <a:latin typeface="Segoe UI"/>
              </a:defRPr>
            </a:pPr>
            <a:r>
              <a:t>DEFENSIBILITY &amp;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Why Block-O Wins: More Than a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06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E8A020"/>
                </a:solidFill>
                <a:latin typeface="Segoe UI"/>
              </a:defRPr>
            </a:pPr>
            <a:r>
              <a:t>1. Upstream Intent Capture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Standard marketplaces only capture buyers who already know their exact SKUs.</a:t>
            </a:r>
            <a:br/>
            <a:r>
              <a:t>• Block-O captures contractors at the initial calculation and planning phase.</a:t>
            </a:r>
            <a:br/>
            <a:r>
              <a:t>• We lock in the bill-of-quantities before suppliers are even contacted.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2. Localized Construction Engine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Generic e-commerce platforms fail in heavy construction.</a:t>
            </a:r>
            <a:br/>
            <a:r>
              <a:t>• Built natively for Jordanian codes (JS 29), Ma'an stone grades, local block sizes, and bulk truckload ordering.</a:t>
            </a:r>
            <a:br/>
            <a:r>
              <a:t>• Deep domain barrier to entry for generic competitors.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3. Zero-CAC Organic Flywheel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Every calculation tool and material variant generates indexable SEO landing pages.</a:t>
            </a:r>
            <a:br/>
            <a:r>
              <a:t>• Creates a self-reinforcing organic inbound acquisition loop.</a:t>
            </a:r>
            <a:br/>
            <a:r>
              <a:t>• Keeps marketing burn low while capturing high-intent B2B contractors.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60720"/>
            <a:ext cx="10728655" cy="64008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E8A020"/>
                </a:solidFill>
                <a:latin typeface="Segoe UI"/>
              </a:defRPr>
            </a:pPr>
            <a:r>
              <a:t>The Flywheel: Accurate Takeoff → Automated BOQ → Multi-Supplier Comparison → Guaranteed Logistics → High Retention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A020"/>
                </a:solidFill>
                <a:latin typeface="Segoe UI"/>
              </a:defRPr>
            </a:pPr>
            <a:r>
              <a:t>GO-TO-MARKET &amp;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Market Strategy: Jordan First, Regional Expansion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07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200" b="1">
                <a:solidFill>
                  <a:srgbClr val="E8A020"/>
                </a:solidFill>
                <a:latin typeface="Segoe UI"/>
              </a:defRPr>
            </a:pPr>
            <a:r>
              <a:t>PHASE 1: JORDAN REPEATABILITY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Months 1–12 • $1.8B Annual Construction TAM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High-density, high-friction proving ground in Amman &amp; Zarqa.</a:t>
            </a:r>
            <a:br/>
            <a:r>
              <a:t>• Onboard 30 key category distributors (Steel, Cement, Stone, Block).</a:t>
            </a:r>
            <a:br/>
            <a:r>
              <a:t>• Target mid-size contractors, villa builders, and self-builders.</a:t>
            </a:r>
            <a:br/>
            <a:r>
              <a:t>• Validate unit economics, repeat frequency, and delivery margins.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PHASE 2: SAUDI ARABIA EXPANSION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Months 13–18 • $40B+ Construction Market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Expand into Riyadh with a proven, capital-light supplier playbook.</a:t>
            </a:r>
            <a:br/>
            <a:r>
              <a:t>• Connect with Propeller's regional network and logistics partners.</a:t>
            </a:r>
            <a:br/>
            <a:r>
              <a:t>• Core platform is pre-architected for multi-tenant, SAR currency, and ZATCA e-invoicing.</a:t>
            </a:r>
            <a:br/>
            <a:r>
              <a:t>• Huge market upside backed by real Jordanian unit economic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728655" cy="64008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CBD5E1"/>
                </a:solidFill>
                <a:latin typeface="Segoe UI"/>
              </a:defRPr>
            </a:pPr>
            <a:r>
              <a:t>Jordan SAM: $240M annual addressable retail/commercial materials • 24-Month Target: Capture 1.5% SAM ($3.6M GMV).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A020"/>
                </a:solidFill>
                <a:latin typeface="Segoe UI"/>
              </a:defRPr>
            </a:pPr>
            <a: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Business Model: Transaction Revenue First, SaaS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08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E8A020"/>
                </a:solidFill>
                <a:latin typeface="Segoe UI"/>
              </a:defRPr>
            </a:pPr>
            <a:r>
              <a:t>STREAM 01: COMMISSION</a:t>
            </a:r>
          </a:p>
          <a:p>
            <a:pPr>
              <a:spcBef>
                <a:spcPts val="400"/>
              </a:spcBef>
              <a:defRPr sz="1600" b="1">
                <a:solidFill>
                  <a:srgbClr val="E8A020"/>
                </a:solidFill>
                <a:latin typeface="Segoe UI"/>
              </a:defRPr>
            </a:pPr>
            <a:r>
              <a:t>Take-Rate &amp; Merchant Margin</a:t>
            </a:r>
            <a:br/>
            <a:r>
              <a:t>3% – 8%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Commission on completed marketplace transactions.</a:t>
            </a:r>
            <a:br/>
            <a:r>
              <a:t>• Tiered by category (high-volume structural materials vs. higher-margin stone and finishes).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STREAM 02: FULFILLMENT</a:t>
            </a:r>
          </a:p>
          <a:p>
            <a:pPr>
              <a:spcBef>
                <a:spcPts val="400"/>
              </a:spcBef>
              <a:defRPr sz="1600" b="1">
                <a:solidFill>
                  <a:srgbClr val="06B6D4"/>
                </a:solidFill>
                <a:latin typeface="Segoe UI"/>
              </a:defRPr>
            </a:pPr>
            <a:r>
              <a:t>Logistics Delivery Margin</a:t>
            </a:r>
            <a:br/>
            <a:r>
              <a:t>10% – 15%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Margin captured on aggregated freight dispatch.</a:t>
            </a:r>
            <a:br/>
            <a:r>
              <a:t>• Volume discounts secured with commercial carrier fleets passed through with healthy margin.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STREAM 03: SAAS TOOLS</a:t>
            </a:r>
          </a:p>
          <a:p>
            <a:pPr>
              <a:spcBef>
                <a:spcPts val="400"/>
              </a:spcBef>
              <a:defRPr sz="1600" b="1">
                <a:solidFill>
                  <a:srgbClr val="8B5CF6"/>
                </a:solidFill>
                <a:latin typeface="Segoe UI"/>
              </a:defRPr>
            </a:pPr>
            <a:r>
              <a:t>Contractor Pro Subscriptions</a:t>
            </a:r>
            <a:br/>
            <a:r>
              <a:t>$49 – $199 / mo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Advanced BOQ export to Excel/PDF with contractor branding.</a:t>
            </a:r>
            <a:br/>
            <a:r>
              <a:t>• Multi-site cost tracking and supplier ERP API connectors for large builders.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60720"/>
            <a:ext cx="10728655" cy="64008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High Average Order Value (AOV): Construction orders range from 500 to 10,000+ JOD, delivering strong gross margin per transaction.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A020"/>
                </a:solidFill>
                <a:latin typeface="Segoe UI"/>
              </a:defRPr>
            </a:pPr>
            <a:r>
              <a:t>INVESTOR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Why Block-O Fits Propeller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09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E8A020"/>
                </a:solidFill>
                <a:latin typeface="Segoe UI"/>
              </a:defRPr>
            </a:pPr>
            <a:r>
              <a:t>1. B2B &amp; PropTech Focus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Propeller has proven expertise backing industrial B2B and software platforms.</a:t>
            </a:r>
            <a:br/>
            <a:r>
              <a:t>• Construction procurement represents one of MENA's largest yet least digitized multi-billion dollar verticals.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2. Jordan-to-KSA Thesis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Fits Propeller's core investment model: proving capital efficiency and unit economics in Jordan, then scaling into Saudi Arabia.</a:t>
            </a:r>
            <a:br/>
            <a:r>
              <a:t>• Pre-architected software stack enables rapid multi-country rollout.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3. Founder-Market Fit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Rare combination of 15+ years civil &amp; architectural engineering domain experience + senior full-stack .NET &amp; Three.js software execution.</a:t>
            </a:r>
            <a:br/>
            <a:r>
              <a:t>• Zero engineering outsourcing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60720"/>
            <a:ext cx="10728655" cy="64008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CBD5E1"/>
                </a:solidFill>
                <a:latin typeface="Segoe UI"/>
              </a:defRPr>
            </a:pPr>
            <a:r>
              <a:t>Synergy: Propeller's regional investor network accelerates key supplier partnerships and enterprise contractor onboarding in Phase 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A020"/>
                </a:solidFill>
                <a:latin typeface="Segoe UI"/>
              </a:defRPr>
            </a:pPr>
            <a:r>
              <a:t>FINANCIAL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Use of Funds: Funding People, Partners &amp; Repeatable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10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0116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200" b="1">
                <a:solidFill>
                  <a:srgbClr val="E8A020"/>
                </a:solidFill>
                <a:latin typeface="Segoe UI"/>
              </a:defRPr>
            </a:pPr>
            <a:r>
              <a:t>40%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Team &amp; Salaries</a:t>
            </a:r>
          </a:p>
          <a:p>
            <a:pPr>
              <a:spcBef>
                <a:spcPts val="200"/>
              </a:spcBef>
              <a:defRPr sz="1200">
                <a:solidFill>
                  <a:srgbClr val="E8A020"/>
                </a:solidFill>
                <a:latin typeface="Segoe UI"/>
              </a:defRPr>
            </a:pPr>
            <a:r>
              <a:t>$140,000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Ops manager, 2 field sales engineers, part-time QA/frontend.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645920"/>
            <a:ext cx="20116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20%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Contractor Growth</a:t>
            </a:r>
          </a:p>
          <a:p>
            <a:pPr>
              <a:spcBef>
                <a:spcPts val="200"/>
              </a:spcBef>
              <a:defRPr sz="1200">
                <a:solidFill>
                  <a:srgbClr val="06B6D4"/>
                </a:solidFill>
                <a:latin typeface="Segoe UI"/>
              </a:defRPr>
            </a:pPr>
            <a:r>
              <a:t>$70,000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Targeted trade activations, contractor referral incentives, site visits.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645920"/>
            <a:ext cx="20116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20%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Logistics &amp; Capital</a:t>
            </a:r>
          </a:p>
          <a:p>
            <a:pPr>
              <a:spcBef>
                <a:spcPts val="200"/>
              </a:spcBef>
              <a:defRPr sz="1200">
                <a:solidFill>
                  <a:srgbClr val="10B981"/>
                </a:solidFill>
                <a:latin typeface="Segoe UI"/>
              </a:defRPr>
            </a:pPr>
            <a:r>
              <a:t>$70,000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Carrier guarantees, supplier credit settlement buffer, fulfillment float.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645920"/>
            <a:ext cx="20116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200" b="1">
                <a:solidFill>
                  <a:srgbClr val="8B5CF6"/>
                </a:solidFill>
                <a:latin typeface="Segoe UI"/>
              </a:defRPr>
            </a:pPr>
            <a:r>
              <a:t>12%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Product &amp; Tech</a:t>
            </a:r>
          </a:p>
          <a:p>
            <a:pPr>
              <a:spcBef>
                <a:spcPts val="200"/>
              </a:spcBef>
              <a:defRPr sz="1200">
                <a:solidFill>
                  <a:srgbClr val="8B5CF6"/>
                </a:solidFill>
                <a:latin typeface="Segoe UI"/>
              </a:defRPr>
            </a:pPr>
            <a:r>
              <a:t>$42,000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Contractor mobile app, auto supplier inventory sync, cloud infrastructure.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36608" y="1645920"/>
            <a:ext cx="20116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200" b="1">
                <a:solidFill>
                  <a:srgbClr val="94A3B8"/>
                </a:solidFill>
                <a:latin typeface="Segoe UI"/>
              </a:defRPr>
            </a:pPr>
            <a:r>
              <a:t>8%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Legal &amp; Reserve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$28,000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Jordan &amp; KSA corporate structuring, compliance, and contingency fund.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60720"/>
            <a:ext cx="10728655" cy="64008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E8A020"/>
                </a:solidFill>
                <a:latin typeface="Segoe UI"/>
              </a:defRPr>
            </a:pPr>
            <a:r>
              <a:t>Target Runway: 18 Months of fully funded operations • Target Average Monthly Burn: ~$19.4K / month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A020"/>
                </a:solidFill>
                <a:latin typeface="Segoe UI"/>
              </a:defRPr>
            </a:pPr>
            <a:r>
              <a:t>MILESTONES &amp;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18-Month Execution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11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E8A020"/>
                </a:solidFill>
                <a:latin typeface="Segoe UI"/>
              </a:defRPr>
            </a:pPr>
            <a:r>
              <a:t>PHASE 1 (M1 – M6)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Jordan Repeatability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Close 15 major supplier merchant agreements in Amman &amp; Zarqa.</a:t>
            </a:r>
            <a:br/>
            <a:r>
              <a:t>• Onboard 50 active monthly recurring contractor accounts.</a:t>
            </a:r>
            <a:br/>
            <a:r>
              <a:t>• Reach 50,000 JOD / month GMV with &gt;30% 90-day repeat order 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PHASE 2 (M7 – M12)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Jordan Network Density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Expand supplier coverage across all 12 Jordan governorates.</a:t>
            </a:r>
            <a:br/>
            <a:r>
              <a:t>• Launch Block-O Contractor Mobile App (iOS / Android).</a:t>
            </a:r>
            <a:br/>
            <a:r>
              <a:t>• Reach 150,000 JOD / month GMV ($2.5M run-rate GMV).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PHASE 3 (M13 – M18)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Saudi Arabia Pilot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Onboard 10 key distributors in Riyadh &amp; Eastern Province.</a:t>
            </a:r>
            <a:br/>
            <a:r>
              <a:t>• Localize building codes (SBC) and ZATCA Phase 2 e-invoicing.</a:t>
            </a:r>
            <a:br/>
            <a:r>
              <a:t>• Prepare for Series A round backed by Saudi commercial traction.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60720"/>
            <a:ext cx="10728655" cy="64008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CBD5E1"/>
                </a:solidFill>
                <a:latin typeface="Segoe UI"/>
              </a:defRPr>
            </a:pPr>
            <a:r>
              <a:t>North Star Metric: 90-day contractor repeat order rate &gt; 45% with positive unit contribution margin.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A020"/>
                </a:solidFill>
                <a:latin typeface="Segoe UI"/>
              </a:defRPr>
            </a:pPr>
            <a:r>
              <a:t>INVESTMENT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We Are Raising $350,000 to Scale What Is Already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12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228600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INSTRUMENT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Post-Money SAFE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Standard Y Combinator SAFE structure with 20% discount.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228600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VALUATION CAP</a:t>
            </a:r>
          </a:p>
          <a:p>
            <a:pPr>
              <a:spcBef>
                <a:spcPts val="400"/>
              </a:spcBef>
              <a:defRPr sz="2200" b="1">
                <a:solidFill>
                  <a:srgbClr val="E8A020"/>
                </a:solidFill>
                <a:latin typeface="Segoe UI"/>
              </a:defRPr>
            </a:pPr>
            <a:r>
              <a:t>$3,500,000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Attractive early-stage entry valuation for lead investors.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228600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TARGET CLOSE</a:t>
            </a:r>
          </a:p>
          <a:p>
            <a:pPr>
              <a:spcBef>
                <a:spcPts val="400"/>
              </a:spcBef>
              <a:defRPr sz="1800" b="1">
                <a:solidFill>
                  <a:srgbClr val="06B6D4"/>
                </a:solidFill>
                <a:latin typeface="Segoe UI"/>
              </a:defRPr>
            </a:pPr>
            <a:r>
              <a:t>Q3 / Q4 2026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Immediate execution to deploy hiring and expansion.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728655" cy="21031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800" b="1">
                <a:solidFill>
                  <a:srgbClr val="E8A020"/>
                </a:solidFill>
                <a:latin typeface="Segoe UI"/>
              </a:defRPr>
            </a:pPr>
            <a:r>
              <a:t>Let's Build the Future of Construction Procurement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Ready for a 20-minute live demo and product walkthrough.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Founder: Hamza • Senior Architect &amp; Lead Engineer</a:t>
            </a:r>
            <a:br/>
            <a:r>
              <a:t>Email: hamza@block-o.com • Amman, Jordan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APPENDIX 01 •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Modern, Scalable .NET 9 &amp; Distributed Cloud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13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000" b="1">
                <a:solidFill>
                  <a:srgbClr val="E8A020"/>
                </a:solidFill>
                <a:latin typeface="Segoe UI"/>
              </a:defRPr>
            </a:pPr>
            <a:r>
              <a:t>CORE BACKEND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ASP.NET Core 9.0 API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Clean Architecture, CQRS with MediatR, Repository pattern, and strict domain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1460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DATA LAYER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PostgreSQL + EF Core 9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Multi-tenant schema, row-level security, spatial indexes for supplier distance queries.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1460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CACHE &amp; REALTIME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Redis + SignalR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Distributed product/rate caching, live dispatch tracking websockets for jobsite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45920"/>
            <a:ext cx="251460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CLIENT RENDERING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Tailwind + Three.js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Lightweight high-performance UI, client-side 3D procedural building geometry generation.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728655" cy="64008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>
                <a:solidFill>
                  <a:srgbClr val="CBD5E1"/>
                </a:solidFill>
              </a:defRPr>
            </a:pPr>
            <a:r>
              <a:t>System Latency: &lt;45ms API p95 • Built to scale horizontally to 500,000+ daily requests without architectural overhaul.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APPENDIX 02 • FULFILLMENT &amp;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Logistics Engine &amp; Multi-Governorate Delivery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14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E8A020"/>
                </a:solidFill>
                <a:latin typeface="Segoe UI"/>
              </a:defRPr>
            </a:pPr>
            <a:r>
              <a:t>Carrier API Integration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LogesTechs / GLC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Seamless webhook and REST API synchronization with fleet logistics providers for real-time automated dispatch, driver assignment, and status webhooks.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12-Governorate Matrix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Dynamic Freight Pricing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Automated haulage calculation engine based on vehicle payload (flatbed, crane truck, dump truck), distance from supplier yard, and site terrain.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Digital POD &amp; Escrow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Proof of Delivery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Digital bill of lading, geotagged photo capture upon physical jobsite unloading, and contractor mobile sign-off releasing escrow funds to merchants.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APPENDIX 03 • ENGINEERING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Jordanian Code (JS 29) &amp; Engineering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15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E8A020"/>
                </a:solidFill>
                <a:latin typeface="Segoe UI"/>
              </a:defRPr>
            </a:pPr>
            <a:r>
              <a:t>JS 29 Rebar Standards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High-Tensile Steel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Computes precise linear and tonnage metrics for Grade 60 rebar (Φ8, Φ10, Φ12, Φ16, Φ20, Φ25mm) accounting for standard lap splice lengths and bend factors.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Stone Facade Engineering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Masonry Coursing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Calculates net area, coursing heights (Madmak 25cm / 50cm), corner stones (Zwaya), sill stones (Majarah), and backing concrete volumes.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Rib Slabs &amp; Hollow Blocks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Structural Slabs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Calculates exact hollow block counts (Aseg 14, 20, 24cm), rib reinforcement, and top concrete topping slab (C25/C30 ready-mix) requirements.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APPENDIX 04 • WEBGL &amp; 3D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3D WebGL BIM &amp; Procedural Architectural Shaders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16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E8A020"/>
                </a:solidFill>
                <a:latin typeface="Segoe UI"/>
              </a:defRPr>
            </a:pPr>
            <a:r>
              <a:t>Parametric 4-Piece Window Framing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Real-time dynamic architectural geometry rendering window lintels, sills, and jambs with hollow frame reveals matching real-life Jordanian masonry construction techniques.</a:t>
            </a:r>
            <a:br/>
            <a:br/>
            <a:r>
              <a:t>Eliminates buyer uncertainty by displaying physically accurate building representations directly in the browser without plugins.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Procedural Stone Textures &amp; Bump Maps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Realistic representation of Tabzeh (rough chiseled), Matabbah (bush-hammered), and Mufajjara stone dressing textures generated on GPU via custom WebGL shaders.</a:t>
            </a:r>
            <a:br/>
            <a:br/>
            <a:r>
              <a:t>Provides interactive lighting and shadow interaction, giving contractors and homeowners realistic material visual confirmation before checkout.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APPENDIX 05 • AI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Future AI CAD &amp; Blueprint Takeoff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17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STEP 1: INGESTION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AutoCAD &amp; PDF Blueprints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Contractors upload standard architectural and structural drawing sets directly into the Block-O platform.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STEP 2: SEGMENTATION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Computer Vision Takeoff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Vision models detect wall lengths, column schedules, footings, and slab openings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STEP 3: PROCUREMENT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Instant Orderable BOQ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Converts detected geometry directly into an itemized, priced shopping basket across verified local suppliers.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APPENDIX 06 • 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Competitive Positioning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18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E8A020"/>
                </a:solidFill>
                <a:latin typeface="Segoe UI"/>
              </a:defRPr>
            </a:pPr>
            <a:r>
              <a:t>CAPABILITY COMPARISON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Engineering BOQ Calculators (JS 29): Block-O (Native &amp; Instant) | Traditional Yards (Manual) | Generic E-Com (None) | B2B Marketplaces (None)</a:t>
            </a:r>
            <a:br/>
            <a:br/>
            <a:r>
              <a:t>• Live Multi-Vendor Compare: Block-O (Real-Time) | Traditional Yards (Single Yard) | Generic E-Com (Partial) | B2B Marketplaces (Yes)</a:t>
            </a:r>
            <a:br/>
            <a:br/>
            <a:r>
              <a:t>• Local Unit Support (Truckload, m², Madmak): Block-O (Native) | Traditional Yards (Yes) | Generic E-Com (Pieces only) | B2B Marketplaces (Limited)</a:t>
            </a:r>
            <a:br/>
            <a:br/>
            <a:r>
              <a:t>• Programmatic SEO Flywheel: Block-O (1,270+ Pages) | Traditional Yards (None) | Generic E-Com (Standard) | B2B Marketplaces (Low Intent)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APPENDIX 07 • MARKET 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TAM • SAM • SOM Market Sizing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19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E8A020"/>
                </a:solidFill>
                <a:latin typeface="Segoe UI"/>
              </a:defRPr>
            </a:pPr>
            <a:r>
              <a:t>TAM (Total Addressable)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$1.8B Jordan / $42B Levant &amp; KSA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Total annual expenditure on residential, commercial, and infrastructure construction materials across Jordan and the broader region.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SAM (Serviceable Addressable)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$240M Jordan Addressable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Contractor-purchased core construction materials (steel, concrete, masonry, stone, finishes) in accessible urban governorates.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SOM (Serviceable Obtainable)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$3.6M GMV (1.5% SAM)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24-month target capturing 150 active recurring contractors and 35 key distributor fulfillment hubs in Jordan.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APPENDIX 08 • DATABASE &amp; MULTI-TENANT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Multi-Region &amp; Multi-Tenant Database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20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Tenant &amp; Country Isolation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PostgreSQL Row-Level Security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Schema-level and row-level tenant isolation supporting independent Jordan (JOD) and Saudi Arabia (SAR) currency, tax, and inventory domains.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E-Invoicing Compliance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ISTD &amp; ZATCA Phase 2 Ready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Pre-architected for Jordanian ISTD tax integration and Saudi ZATCA Phase 2 cryptographic e-invoice XML generation and QR stamping.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38328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E8A020"/>
                </a:solidFill>
                <a:latin typeface="Segoe UI"/>
              </a:defRPr>
            </a:pPr>
            <a:r>
              <a:t>Dynamic Pricing Engine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Sub-Second Resolution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Optimized pricing matrix resolving tiered contractor discounting, bulk volume rates, and carrier freight tariffs in sub-50ms queries.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APPENDIX 09 • INVESTMENT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SAFE Investment Terms &amp; Clean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21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000" b="1">
                <a:solidFill>
                  <a:srgbClr val="E8A020"/>
                </a:solidFill>
                <a:latin typeface="Segoe UI"/>
              </a:defRPr>
            </a:pPr>
            <a:r>
              <a:t>ROUND SIZE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$350,000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Pre-Seed round to fund 18-month execution runway and Jordan-to-KSA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1460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VALUATION CAP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$3,500,000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Post-money SAFE valuation ceiling protecting early investor upside.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1460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DISCOUNT RATE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20%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Standard investor discount rate upon qualified Series A conversion.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45920"/>
            <a:ext cx="2514600" cy="3931920"/>
          </a:xfrm>
          <a:prstGeom prst="roundRect">
            <a:avLst/>
          </a:prstGeom>
          <a:solidFill>
            <a:srgbClr val="11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CAP TABLE STATUS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100% Clean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Founder-owned, no prior convertible notes, no venture debt.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