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A020"/>
                </a:solidFill>
              </a:defRPr>
            </a:pPr>
            <a:r>
              <a:t>THE FUTURE OF CONTECH IN MENA • PRE-SEED INVESTMENT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1F5F9"/>
                </a:solidFill>
              </a:defRPr>
            </a:pPr>
            <a:r>
              <a:t>BLOCK-O .OS</a:t>
            </a:r>
          </a:p>
          <a:p>
            <a:pPr>
              <a:defRPr sz="2400" b="1">
                <a:solidFill>
                  <a:srgbClr val="FFB94C"/>
                </a:solidFill>
              </a:defRPr>
            </a:pPr>
            <a:r>
              <a:t>The Full-Stack Operating System for Construction &amp;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Block-O transforms the fragmented $140B+ construction supply chain by combining a parametric civil engineering BOQ engine &amp; 3D Digital Twin with a multi-region B2B marketplace and automated real-time dispatch logistics.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14600" cy="14630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A020"/>
                </a:solidFill>
              </a:defRPr>
            </a:pPr>
            <a:r>
              <a:t>CORE MOAT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Parametric BOQ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Jordan Code JS 29 (6-10 bars)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4663440"/>
            <a:ext cx="2514600" cy="14630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4754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ARCHITECTURE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Multi-Region Core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Country &amp; Regional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663440"/>
            <a:ext cx="2514600" cy="14630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4754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AUTOMATION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Carrier APIs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Zero-Touch LogesTechs / GLC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4663440"/>
            <a:ext cx="2514600" cy="14630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FF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54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94C"/>
                </a:solidFill>
              </a:defRPr>
            </a:pPr>
            <a:r>
              <a:t>ROUND TARGET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$350K SAFE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$3.5M Cap (8-10% Dilution)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THE MARKET DYSFUNCTION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Construction Supply is Stuck in 1995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4747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443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t>Manual Estimation Hell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Contractors spend 15-25 hours per project measuring AutoCAD/PDF blueprints and manually entering numbers into Excel sheets. Human error causes 18% material over-ordering or costly project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01568" cy="34747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443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t>Opaque Pricing &amp; Phone Calls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No centralized live pricing. Procurement teams make dozens of phone calls to scattered vendors, suffering price gouging, lack of transparent credit terms, and fake stock inventory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01568" cy="34747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443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t>Broken Logistics &amp; Silos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Vendors have zero software synchronization with freight and delivery companies. Proof of delivery, COD tracking, and warehouse dispatch are completely disconnected from invoicing.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5912" cy="8229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RESULT: Over $8.4 Billion lost annually in MENA construction in waste, idle site time, and inflated middleman markups.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Block-O: The Unified ConTech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443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5F9"/>
                </a:solidFill>
              </a:defRPr>
            </a:pPr>
            <a:r>
              <a:t>1. Parametric Structural BOQ Engine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Engineers &amp; clients input area (e.g., 250m²), floor levels, slab systems (Ribbed/Flat/Solid), and custom seismic column rebar detailing (6 to 10 bars per Jordanian code JS 29). Instant BOQ with live material prices.</a:t>
            </a:r>
            <a:br/>
            <a:br/>
            <a:r>
              <a:t>→ Live 3D/X-Ray Digital Twin • Official PDF • WhatsApp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01568" cy="43891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443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5F9"/>
                </a:solidFill>
              </a:defRPr>
            </a:pPr>
            <a:r>
              <a:t>2. Multi-Region &amp; Multi-Tenant Core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Architected for frictionless cross-border scaling: Each country operates with dedicated tenant isolation, localized building codes, sovereign tax/currency engines, and dedicated supplier/freight pools.</a:t>
            </a:r>
            <a:br/>
            <a:br/>
            <a:r>
              <a:t>→ One unified core engine • Independent regional economics.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01568" cy="43891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443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5F9"/>
                </a:solidFill>
              </a:defRPr>
            </a:pPr>
            <a:r>
              <a:t>3. Automated Logistics APIs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Automated webhook &amp; API bridge connecting warehouse origin (Ras Al-Ain hub) with carriers (LogesTechs / GLC) across all 12 Jordanian governorates, generating automated waybills, dispatch, and COD reconciliations.</a:t>
            </a:r>
            <a:br/>
            <a:br/>
            <a:r>
              <a:t>→ Zero-touch order fulfillment from estimate click to site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PRODUCT DEPTH &amp; AI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Rigorous Civil Engineering Meets Automated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020"/>
                </a:solidFill>
              </a:defRPr>
            </a:pPr>
            <a:r>
              <a:t>Engineering Rigor in the Production Engine: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Structural Flexibility (6, 8, or 10 Bars): Allows engineers to specify column detailing beyond the standard 6 bars up to 10 bars for earthquake-resistant designs, recalculating steel tonnage dynamically.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Stone Dressing &amp; Finishing Packages: Calculates 5 distinct stone dressings (Mufajjar, Tabzeh, Musamsam), decorative cornices, window architraves, plus thermal insulation, waterproofing, and MEP rough-ins.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One-Click PDF, WhatsApp &amp; RFQ Dispatch: Instant conversion to official branded PDF estimates, direct WhatsApp sharing with site foremen, or immediate conversion into supplier purchase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Live Digital Twin Example (250m² Villa - 2 Floors):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• Steel Rebar (Grade 60): 20.8 Tons (10 Bars Seismic Spec)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• Ready-Mix Concrete (B300): 190 m³ with Pump Cast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• Masonry Facades: 420 m² Jordanian Ruwaished First Class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• Instant Export: Branded PDF + Foreman WhatsApp Direct Link</a:t>
            </a:r>
          </a:p>
          <a:p>
            <a:br/>
            <a:pPr>
              <a:defRPr sz="1400" b="1">
                <a:solidFill>
                  <a:srgbClr val="FFB94C"/>
                </a:solidFill>
              </a:defRPr>
            </a:pPr>
            <a:r>
              <a:t>POST-FUNDING AI ROADMAP: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Upgrading our production parametric engine to an AI-Powered Generative Floorplan &amp; CAD Generator to ingest raw blueprints and dynamically model custom geometries.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THE PRIZE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Targeting a $140B+ Regional Construction Surge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292608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4436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TAM (MENA Region)</a:t>
            </a:r>
          </a:p>
          <a:p>
            <a:br/>
            <a:pPr>
              <a:defRPr sz="3600" b="1">
                <a:solidFill>
                  <a:srgbClr val="F1F5F9"/>
                </a:solidFill>
              </a:defRPr>
            </a:pPr>
            <a:r>
              <a:t>$142 Billion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Annual building materials and procurement across MENA construction markets.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01568" cy="292608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4436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A020"/>
                </a:solidFill>
              </a:defRPr>
            </a:pPr>
            <a:r>
              <a:t>SAM (KSA &amp; Levant)</a:t>
            </a:r>
          </a:p>
          <a:p>
            <a:br/>
            <a:pPr>
              <a:defRPr sz="3600" b="1">
                <a:solidFill>
                  <a:srgbClr val="F1F5F9"/>
                </a:solidFill>
              </a:defRPr>
            </a:pPr>
            <a:r>
              <a:t>$28 Billion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Jordan sandbox + primary expansion target in Riyadh and Saudi giga-projects.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01568" cy="292608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4436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SOM (Year 2 Target)</a:t>
            </a:r>
          </a:p>
          <a:p>
            <a:br/>
            <a:pPr>
              <a:defRPr sz="3600" b="1">
                <a:solidFill>
                  <a:srgbClr val="F1F5F9"/>
                </a:solidFill>
              </a:defRPr>
            </a:pPr>
            <a:r>
              <a:t>$14 Million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Capturing 0.05% market share via Tier 2/3 contractors, fit-out firms &amp; merchants.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5912" cy="137160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STRATEGIC BRIDGE: FROM AMMAN SANDBOX TO SAUDI SCALE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Jordan serves as our high-efficiency testing ground where our full logistics stack, CAD algorithms, and unit economics are refined at ultra-low burn. The immediate post-funding milestone is deploying our Saudi tenant for construction vendors facing the giga-project procurement crunch.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Tri-Fold Diversified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918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A020"/>
                </a:solidFill>
              </a:defRPr>
            </a:pPr>
            <a:r>
              <a:t>STREAM 01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B2B Marketplace Take-Rate</a:t>
            </a:r>
          </a:p>
          <a:p>
            <a:br/>
            <a:pPr>
              <a:defRPr sz="2800" b="1">
                <a:solidFill>
                  <a:srgbClr val="E8A020"/>
                </a:solidFill>
              </a:defRPr>
            </a:pPr>
            <a:r>
              <a:t>6% - 14%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Commission earned on every fulfilled transaction across cement, steel, masonry, chemicals, and finishes.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01568" cy="32918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STREAM 02 (HIGH RETENTION)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Multi-Tenant SaaS Subscriptions</a:t>
            </a:r>
          </a:p>
          <a:p>
            <a:br/>
            <a:pPr>
              <a:defRPr sz="2800" b="1">
                <a:solidFill>
                  <a:srgbClr val="818CF8"/>
                </a:solidFill>
              </a:defRPr>
            </a:pPr>
            <a:r>
              <a:t>$99 - $499/mo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Tiered monthly subscriptions for construction firms &amp; suppliers for custom portals, advanced BOQ exports, and inventory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01568" cy="329184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STREAM 03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Automated Delivery &amp; Handling</a:t>
            </a:r>
          </a:p>
          <a:p>
            <a:br/>
            <a:pPr>
              <a:defRPr sz="2800" b="1">
                <a:solidFill>
                  <a:srgbClr val="34D399"/>
                </a:solidFill>
              </a:defRPr>
            </a:pPr>
            <a:r>
              <a:t>15% Margin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Margin captured on automated freight routing, regional governorate shipping rates, and palletized bulk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5912" cy="91440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F5F9"/>
                </a:solidFill>
              </a:defRPr>
            </a:pPr>
            <a:r>
              <a:t>Target Average Order Value (AOV): $850 - $3,200 | Construction orders dwarf standard e-commerce baskets by 20x. Estimated LTV/CAC Ratio &gt; 5.2x.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EXECUTION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Built, Tested, and Operational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6459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FFB94C"/>
                </a:solidFill>
              </a:defRPr>
            </a:pPr>
            <a:r>
              <a:t>Custom Built Stack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.NET 9 + Postgres + Tailwind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16459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7373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12</a:t>
            </a:r>
          </a:p>
          <a:p>
            <a:pPr>
              <a:defRPr sz="1200" b="1">
                <a:solidFill>
                  <a:srgbClr val="FFB94C"/>
                </a:solidFill>
              </a:defRPr>
            </a:pPr>
            <a:r>
              <a:t>Governorates Covered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carrier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16459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7373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Zero</a:t>
            </a:r>
          </a:p>
          <a:p>
            <a:pPr>
              <a:defRPr sz="1200" b="1">
                <a:solidFill>
                  <a:srgbClr val="FFB94C"/>
                </a:solidFill>
              </a:defRPr>
            </a:pPr>
            <a:r>
              <a:t>Manual JSON Entry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Fully automated webhooks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16459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7373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Ready</a:t>
            </a:r>
          </a:p>
          <a:p>
            <a:pPr>
              <a:defRPr sz="1200" b="1">
                <a:solidFill>
                  <a:srgbClr val="FFB94C"/>
                </a:solidFill>
              </a:defRPr>
            </a:pPr>
            <a:r>
              <a:t>Multi-Tenant Architecture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Country-isolated tenant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725912" cy="256032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Production Milestones Completed: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Live Carrier API Integrations (LogesTechs / GLC) active with verified city/village IDs across Jordan.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Parametric Structural BOQ Engine compliant with Jordanian Code JS 29 (6, 8, 10 column bars).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Multi-tenant vendor warehouse &amp; dynamic governorate shipping rate engine live.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One-click export suite: Official PDF generation and direct WhatsApp foremen sharing.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Complete programmatic SEO indexing strategy for civil engineering and building materials.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THE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 Technical &amp; Agile Execution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Hamza Al-Ahmad</a:t>
            </a:r>
          </a:p>
          <a:p>
            <a:pPr>
              <a:defRPr sz="1300" b="1">
                <a:solidFill>
                  <a:srgbClr val="E8A020"/>
                </a:solidFill>
              </a:defRPr>
            </a:pPr>
            <a:r>
              <a:t>Founder, CEO &amp; Tech Lead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Software engineer and system architect who conceived, designed, and engineered Block-O from the ground up.</a:t>
            </a:r>
            <a:br/>
            <a:br/>
            <a:r>
              <a:t>Deeply passionate about ConTech and automation, bridging enterprise cloud architectures (.NET Core, Cloud Microservices, PostgreSQL) with real-world construction site demands.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Cross-Functional Internal Team: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Senior Full-Stack Developer: Scalable backend microservices &amp; tenant routing.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DevOps &amp; Infrastructure Engineer: High availability, automated CI/CD &amp; container pipelines.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QA &amp; Reliability Tester: Rigorous end-to-end checkout &amp; logistics API validation.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Media, Motion Graphics &amp; Growth: Content engine producing viral construction videos &amp; field tutorials.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020"/>
                </a:solidFill>
              </a:defRPr>
            </a:pPr>
            <a:r>
              <a:t>THE DEAL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Pre-Seed Round: $350,000 via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201168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443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TARGET RAISE</a:t>
            </a:r>
          </a:p>
          <a:p>
            <a:pPr>
              <a:defRPr sz="3200" b="1">
                <a:solidFill>
                  <a:srgbClr val="F1F5F9"/>
                </a:solidFill>
              </a:defRPr>
            </a:pPr>
            <a:r>
              <a:t>$350,000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18 Months Runway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01568" cy="201168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443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STRUCTURE</a:t>
            </a:r>
          </a:p>
          <a:p>
            <a:pPr>
              <a:defRPr sz="3200" b="1">
                <a:solidFill>
                  <a:srgbClr val="E8A020"/>
                </a:solidFill>
              </a:defRPr>
            </a:pPr>
            <a:r>
              <a:t>Post-Money SAFE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Standard YC SAFE Instrument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01568" cy="201168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443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VALUATION CAP</a:t>
            </a:r>
          </a:p>
          <a:p>
            <a:pPr>
              <a:defRPr sz="3200" b="1">
                <a:solidFill>
                  <a:srgbClr val="34D399"/>
                </a:solidFill>
              </a:defRPr>
            </a:pPr>
            <a:r>
              <a:t>$3,500,000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8% - 10% Investor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5912" cy="21945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Use of Funds Allocation: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1. Saudi Expansion &amp; Enterprise B2B Sales (40% - $140,000): Deploying Riyadh tenant, onboarding local building merchants, and direct contractor sales.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2. Engineering &amp; AI Dynamic CAD Module (35% - $122,500): Transitioning from parametric presets to dynamic AI floorplan ingestion and modeling.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3. Working Capital &amp; Regional Hub Logistics (25% - $87,500): Hub fulfillment buffers, partner escrow facilities, and operating reserves.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Let's Build the Future of MENA Construction Together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We invite the Propeller investment team to a 20-minute live demonstration of our parametric BOQ engine, multi-region architecture, and automated logistics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10725912" cy="2194560"/>
          </a:xfrm>
          <a:prstGeom prst="roundRect">
            <a:avLst/>
          </a:prstGeom>
          <a:solidFill>
            <a:srgbClr val="141A28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94C"/>
                </a:solidFill>
              </a:defRPr>
            </a:pPr>
            <a:r>
              <a:t>FOUNDER DIRECT CONTACT &amp; LIVE DEMO INQUIRIES: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Hamza Al-Ahmad — Founder &amp; CEO | Block-O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Email: hamza.a.alhmad@gmail.com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Phone / WhatsApp: +962 7 8202 3800 | Amman, Jordan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Platform: https://block-o.com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